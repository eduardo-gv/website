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3" r:id="rId5"/>
  </p:sldIdLst>
  <p:sldSz cx="32918400" cy="21945600"/>
  <p:notesSz cx="6858000" cy="9144000"/>
  <p:defaultTextStyle>
    <a:defPPr>
      <a:defRPr lang="en-US"/>
    </a:defPPr>
    <a:lvl1pPr marL="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1pPr>
    <a:lvl2pPr marL="156751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2pPr>
    <a:lvl3pPr marL="313502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3pPr>
    <a:lvl4pPr marL="470253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4pPr>
    <a:lvl5pPr marL="627004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5pPr>
    <a:lvl6pPr marL="783755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6pPr>
    <a:lvl7pPr marL="940506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7pPr>
    <a:lvl8pPr marL="1097257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8pPr>
    <a:lvl9pPr marL="12540082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36" userDrawn="1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591988-F734-D1B5-CCFB-9B069A79B425}" name="Kulshreshtha, Ambar" initials="KA" userId="S::AKULSHR@emory.edu::22151c15-973a-442a-bdd0-881ea2dfa1a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lshreshtha, Ambar" initials="KA" lastIdx="7" clrIdx="0">
    <p:extLst>
      <p:ext uri="{19B8F6BF-5375-455C-9EA6-DF929625EA0E}">
        <p15:presenceInfo xmlns:p15="http://schemas.microsoft.com/office/powerpoint/2012/main" userId="S::AKULSHR@emory.edu::22151c15-973a-442a-bdd0-881ea2dfa1a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4E"/>
    <a:srgbClr val="F2A900"/>
    <a:srgbClr val="D2B000"/>
    <a:srgbClr val="29ACE2"/>
    <a:srgbClr val="002878"/>
    <a:srgbClr val="00639F"/>
    <a:srgbClr val="213F97"/>
    <a:srgbClr val="6E2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2" autoAdjust="0"/>
    <p:restoredTop sz="91445"/>
  </p:normalViewPr>
  <p:slideViewPr>
    <p:cSldViewPr>
      <p:cViewPr>
        <p:scale>
          <a:sx n="50" d="100"/>
          <a:sy n="50" d="100"/>
        </p:scale>
        <p:origin x="128" y="-1032"/>
      </p:cViewPr>
      <p:guideLst>
        <p:guide orient="horz" pos="1353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404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34114-CCDC-F348-97FE-EA7B9AAAB408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16E3C-BACB-8942-B1E7-0997BA883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5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16E3C-BACB-8942-B1E7-0997BA883D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7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B0420BB7-03DE-401B-ADF0-735BB1D299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5934B734-1549-45AE-BD87-D88AD2C39B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304800"/>
            <a:ext cx="5086041" cy="37338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4267200"/>
            <a:ext cx="32918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21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B0420BB7-03DE-401B-ADF0-735BB1D299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5934B734-1549-45AE-BD87-D88AD2C39B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304800"/>
            <a:ext cx="5086041" cy="37338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4267200"/>
            <a:ext cx="32918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4943" y="762000"/>
            <a:ext cx="599796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7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B0420BB7-03DE-401B-ADF0-735BB1D299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5934B734-1549-45AE-BD87-D88AD2C39B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304800"/>
            <a:ext cx="5086041" cy="37338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4267200"/>
            <a:ext cx="32918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7229" y="1048278"/>
            <a:ext cx="6049220" cy="21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3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B0420BB7-03DE-401B-ADF0-735BB1D299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5934B734-1549-45AE-BD87-D88AD2C39B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5486400"/>
            <a:ext cx="32918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400" y="990600"/>
            <a:ext cx="4724400" cy="16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9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B0420BB7-03DE-401B-ADF0-735BB1D299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/>
          <a:lstStyle/>
          <a:p>
            <a:fld id="{5934B734-1549-45AE-BD87-D88AD2C39B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304800"/>
            <a:ext cx="5086041" cy="37338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0" y="4267200"/>
            <a:ext cx="32918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2618" y="1308460"/>
            <a:ext cx="5577840" cy="17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6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4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3135020" rtl="0" eaLnBrk="1" latinLnBrk="0" hangingPunct="1">
        <a:spcBef>
          <a:spcPct val="0"/>
        </a:spcBef>
        <a:buNone/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75633" indent="-1175633" algn="l" defTabSz="3135020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7204" indent="-979694" algn="l" defTabSz="31350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77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86" indent="-783755" algn="l" defTabSz="3135020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796" indent="-783755" algn="l" defTabSz="3135020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dc.gov/nchs/products/databriefs/db445.htm?utm_source=chatgpt.com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ncbi.nlm.nih.gov/books/NBK459384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s://www.cdc.gov/nchs/nhis/documentation/index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screen shot of a table&#10;&#10;Description automatically generated">
            <a:extLst>
              <a:ext uri="{FF2B5EF4-FFF2-40B4-BE49-F238E27FC236}">
                <a16:creationId xmlns:a16="http://schemas.microsoft.com/office/drawing/2014/main" id="{42E7A835-9BC8-4E9B-7A49-EDE0FFCC34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2" r="892"/>
          <a:stretch/>
        </p:blipFill>
        <p:spPr>
          <a:xfrm>
            <a:off x="11338525" y="12500338"/>
            <a:ext cx="11086350" cy="740987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B0E8E6-59F8-2044-A3AD-C19CAF90B48E}"/>
              </a:ext>
            </a:extLst>
          </p:cNvPr>
          <p:cNvSpPr txBox="1"/>
          <p:nvPr/>
        </p:nvSpPr>
        <p:spPr>
          <a:xfrm>
            <a:off x="26136600" y="79238"/>
            <a:ext cx="6781800" cy="3733800"/>
          </a:xfrm>
          <a:prstGeom prst="rect">
            <a:avLst/>
          </a:prstGeom>
          <a:solidFill>
            <a:srgbClr val="002878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C9A552-D07C-BDD6-2BFA-0E03D65DA045}"/>
              </a:ext>
            </a:extLst>
          </p:cNvPr>
          <p:cNvSpPr txBox="1"/>
          <p:nvPr/>
        </p:nvSpPr>
        <p:spPr>
          <a:xfrm>
            <a:off x="-4660490" y="5162754"/>
            <a:ext cx="18473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77000" y="778405"/>
            <a:ext cx="27127200" cy="5103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500" b="1" dirty="0">
                <a:solidFill>
                  <a:schemeClr val="bg1"/>
                </a:solidFill>
                <a:latin typeface="Arial"/>
                <a:cs typeface="Arial"/>
              </a:rPr>
              <a:t>Bridging the Cognitive Divide: Telehealth Utilization</a:t>
            </a:r>
          </a:p>
          <a:p>
            <a:pPr algn="ctr"/>
            <a:r>
              <a:rPr lang="en-US" sz="5500" b="1" dirty="0">
                <a:solidFill>
                  <a:schemeClr val="bg1"/>
                </a:solidFill>
                <a:latin typeface="Arial"/>
                <a:cs typeface="Arial"/>
              </a:rPr>
              <a:t> Among Adults with Cognitive Difficulties</a:t>
            </a:r>
          </a:p>
          <a:p>
            <a:pPr algn="ctr"/>
            <a:r>
              <a:rPr lang="en-US" sz="5500" b="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endParaRPr lang="en-US" sz="54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Eduardo Gonzalez Villarreal</a:t>
            </a:r>
            <a:r>
              <a:rPr lang="en-US" sz="2900" baseline="3000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; Young-Rock Hong, PhD</a:t>
            </a:r>
            <a:r>
              <a:rPr lang="en-US" sz="2900" baseline="30000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; Andrew Breithaupt, MD</a:t>
            </a:r>
            <a:r>
              <a:rPr lang="en-US" sz="2900" baseline="30000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; Abha Namjoshi</a:t>
            </a:r>
            <a:r>
              <a:rPr lang="en-US" sz="2900" baseline="3000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; Andrew Kiselica, PhD</a:t>
            </a:r>
            <a:r>
              <a:rPr lang="en-US" sz="2900" baseline="30000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r>
              <a:rPr lang="en-US" sz="2900" dirty="0">
                <a:solidFill>
                  <a:schemeClr val="bg1"/>
                </a:solidFill>
                <a:latin typeface="Arial"/>
                <a:cs typeface="Arial"/>
              </a:rPr>
              <a:t>; Ambar Kulshreshtha, MD, </a:t>
            </a: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PhD</a:t>
            </a:r>
            <a:r>
              <a:rPr lang="en-US" sz="2800" baseline="30000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</a:p>
          <a:p>
            <a:pPr algn="ctr"/>
            <a:endParaRPr lang="en-US" sz="2800" baseline="300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 fontAlgn="base"/>
            <a:r>
              <a:rPr lang="en-US" sz="2800" baseline="30000" dirty="0">
                <a:solidFill>
                  <a:schemeClr val="bg1"/>
                </a:solidFill>
              </a:rPr>
              <a:t>1</a:t>
            </a:r>
            <a:r>
              <a:rPr lang="en-US" sz="2800" dirty="0">
                <a:solidFill>
                  <a:schemeClr val="bg1"/>
                </a:solidFill>
              </a:rPr>
              <a:t>Department of Epidemiology, Emory University Rollins School of Public Health; </a:t>
            </a:r>
            <a:r>
              <a:rPr lang="en-US" sz="2800" baseline="30000" dirty="0">
                <a:solidFill>
                  <a:schemeClr val="bg1"/>
                </a:solidFill>
              </a:rPr>
              <a:t>2</a:t>
            </a:r>
            <a:r>
              <a:rPr lang="en-US" sz="2800" dirty="0">
                <a:solidFill>
                  <a:schemeClr val="bg1"/>
                </a:solidFill>
              </a:rPr>
              <a:t>Department of Family and Preventative Medicine, Emory University School of Medicine; </a:t>
            </a:r>
          </a:p>
          <a:p>
            <a:pPr algn="ctr" fontAlgn="base"/>
            <a:r>
              <a:rPr lang="en-US" sz="2800" baseline="30000" dirty="0">
                <a:solidFill>
                  <a:schemeClr val="bg1"/>
                </a:solidFill>
              </a:rPr>
              <a:t>3</a:t>
            </a:r>
            <a:r>
              <a:rPr lang="en-US" sz="2800" dirty="0">
                <a:solidFill>
                  <a:schemeClr val="bg1"/>
                </a:solidFill>
              </a:rPr>
              <a:t>Department of Neurology, Emory University School of Medicine; </a:t>
            </a:r>
            <a:r>
              <a:rPr lang="en-US" sz="2800" baseline="30000" dirty="0">
                <a:solidFill>
                  <a:schemeClr val="bg1"/>
                </a:solidFill>
              </a:rPr>
              <a:t>4</a:t>
            </a:r>
            <a:r>
              <a:rPr lang="en-US" sz="2800" dirty="0">
                <a:solidFill>
                  <a:schemeClr val="bg1"/>
                </a:solidFill>
              </a:rPr>
              <a:t>Institute of Gerontology, University of Georgia  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sz="2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BCB680C-3144-9141-88E5-4F74630F4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659820"/>
              </p:ext>
            </p:extLst>
          </p:nvPr>
        </p:nvGraphicFramePr>
        <p:xfrm>
          <a:off x="8382000" y="5403237"/>
          <a:ext cx="16039143" cy="16547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756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/>
                          <a:cs typeface="Arial"/>
                        </a:rPr>
                        <a:t>Results</a:t>
                      </a:r>
                      <a:endParaRPr lang="en-US" sz="4800" dirty="0">
                        <a:solidFill>
                          <a:srgbClr val="001C4E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0063">
                <a:tc>
                  <a:txBody>
                    <a:bodyPr/>
                    <a:lstStyle/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3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510C67-F429-A6D4-1AF3-B85A6A743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771758"/>
              </p:ext>
            </p:extLst>
          </p:nvPr>
        </p:nvGraphicFramePr>
        <p:xfrm>
          <a:off x="-1" y="5406892"/>
          <a:ext cx="8395123" cy="629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3908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Introduction</a:t>
                      </a:r>
                      <a:endParaRPr lang="en-US" sz="5400" dirty="0">
                        <a:solidFill>
                          <a:srgbClr val="001C4E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1375">
                <a:tc>
                  <a:txBody>
                    <a:bodyPr/>
                    <a:lstStyle/>
                    <a:p>
                      <a:pPr marL="457200" marR="0" lvl="0" indent="-45720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2600" b="1" dirty="0">
                        <a:latin typeface="Arial"/>
                        <a:cs typeface="Arial"/>
                      </a:endParaRPr>
                    </a:p>
                    <a:p>
                      <a:pPr marL="457200" marR="0" lvl="0" indent="-45720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Telehealth has become integral to healthcare delivery since the pandemic.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2600" b="1" dirty="0">
                        <a:latin typeface="Arial"/>
                        <a:cs typeface="Arial"/>
                      </a:endParaRPr>
                    </a:p>
                    <a:p>
                      <a:pPr marL="457200" marR="0" lvl="0" indent="-45720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It has become a core component of care, with roughly a third of US adults using telehealth services each year.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2600" b="1" dirty="0">
                        <a:latin typeface="Arial"/>
                        <a:cs typeface="Arial"/>
                      </a:endParaRPr>
                    </a:p>
                    <a:p>
                      <a:pPr marL="457200" marR="0" lvl="0" indent="-45720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Cognitive function plays a major role in operating digital devices; cognitive difficulties may limit access and uptake of telehealth.</a:t>
                      </a:r>
                    </a:p>
                    <a:p>
                      <a:pPr marL="457200" marR="0" lvl="0" indent="-457200" algn="l" rtl="0" eaLnBrk="1" fontAlgn="auto" latinLnBrk="0" hangingPunct="1">
                        <a:lnSpc>
                          <a:spcPct val="11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2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4522B6-0625-EC1E-9FD4-F5CCB2D6B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102410"/>
              </p:ext>
            </p:extLst>
          </p:nvPr>
        </p:nvGraphicFramePr>
        <p:xfrm>
          <a:off x="0" y="11237345"/>
          <a:ext cx="8395124" cy="431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5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6318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/>
                          <a:cs typeface="Arial"/>
                        </a:rPr>
                        <a:t>Objectives</a:t>
                      </a:r>
                      <a:endParaRPr lang="en-US" sz="4800" dirty="0">
                        <a:solidFill>
                          <a:srgbClr val="001C4E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996">
                <a:tc>
                  <a:txBody>
                    <a:bodyPr/>
                    <a:lstStyle/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Evaluate the association between telehealth usage and cognitive difficulty. </a:t>
                      </a:r>
                      <a:endParaRPr lang="en-US" sz="2600" b="0" i="0" u="none" strike="noStrike" noProof="0" dirty="0">
                        <a:solidFill>
                          <a:schemeClr val="dk1"/>
                        </a:solidFill>
                        <a:latin typeface="+mn-lt"/>
                      </a:endParaRP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2600" b="0" i="0" u="none" strike="noStrike" noProof="0" dirty="0">
                        <a:solidFill>
                          <a:schemeClr val="dk1"/>
                        </a:solidFill>
                        <a:latin typeface="+mn-lt"/>
                      </a:endParaRP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Determine whether age modifies the association between telehealth and cognitive difficulty.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635B15-734B-EE09-1B23-C92C6F1C7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553829"/>
              </p:ext>
            </p:extLst>
          </p:nvPr>
        </p:nvGraphicFramePr>
        <p:xfrm>
          <a:off x="-42968" y="15287358"/>
          <a:ext cx="8438090" cy="6658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8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885">
                <a:tc>
                  <a:txBody>
                    <a:bodyPr/>
                    <a:lstStyle/>
                    <a:p>
                      <a:pPr algn="ctr"/>
                      <a:r>
                        <a:rPr lang="en-US" sz="4700" dirty="0">
                          <a:solidFill>
                            <a:srgbClr val="001C4E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endParaRPr lang="en-US" sz="4700" dirty="0">
                        <a:solidFill>
                          <a:srgbClr val="001C4E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2357">
                <a:tc>
                  <a:txBody>
                    <a:bodyPr/>
                    <a:lstStyle/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 panose="020B0604020202020204" pitchFamily="34" charset="0"/>
                        </a:rPr>
                        <a:t>We examined nationally representative data from the National Health Interview Survey (NHIS) collected between 2020 and 2023.</a:t>
                      </a: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2600" b="1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 panose="020B0604020202020204" pitchFamily="34" charset="0"/>
                      </a:endParaRP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 panose="020B0604020202020204" pitchFamily="34" charset="0"/>
                        </a:rPr>
                        <a:t>A multivariable logistic regression model was fit to assess the association between subjective cognitive difficulty and telehealth usage, adjusting for covariates. </a:t>
                      </a:r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2600" b="1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 panose="020B0604020202020204" pitchFamily="34" charset="0"/>
                      </a:endParaRP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6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 panose="020B0604020202020204" pitchFamily="34" charset="0"/>
                        </a:rPr>
                        <a:t>Assessed statistical interaction by age.</a:t>
                      </a:r>
                    </a:p>
                    <a:p>
                      <a:pPr marL="457200" marR="0" lvl="0" indent="-45720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2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9939AC3-D83F-9F19-CED7-1C68D05F2108}"/>
              </a:ext>
            </a:extLst>
          </p:cNvPr>
          <p:cNvSpPr txBox="1"/>
          <p:nvPr/>
        </p:nvSpPr>
        <p:spPr>
          <a:xfrm>
            <a:off x="7800600" y="6591388"/>
            <a:ext cx="942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Table 1. Demographics Stratified by Telehealth Usage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F230A7-FF91-3286-AB23-E1D0E1BE9746}"/>
              </a:ext>
            </a:extLst>
          </p:cNvPr>
          <p:cNvSpPr txBox="1"/>
          <p:nvPr/>
        </p:nvSpPr>
        <p:spPr>
          <a:xfrm>
            <a:off x="16644926" y="6578775"/>
            <a:ext cx="762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Figure 1. Use of Telehealth by Cognitive Status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B79E7-6A4F-C345-83B8-D3BD51E9F4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26" y="870211"/>
            <a:ext cx="4960474" cy="388715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5FC3EC7-C108-5FB3-0D99-62F99BEB389C}"/>
              </a:ext>
            </a:extLst>
          </p:cNvPr>
          <p:cNvSpPr txBox="1"/>
          <p:nvPr/>
        </p:nvSpPr>
        <p:spPr>
          <a:xfrm>
            <a:off x="11510761" y="15086994"/>
            <a:ext cx="958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Figure 2. Adjusted Odds Ratios for Telehealth Use, Stratified by Age Group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3C0A7-E735-5A40-BCC4-439B42C64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363" y="7039925"/>
            <a:ext cx="8115729" cy="80470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228B30-1A8B-444E-992D-2082C4BD79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94" y="15535532"/>
            <a:ext cx="12816781" cy="6201668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D1B6212-A4BA-7344-941D-F32E969FF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27271"/>
              </p:ext>
            </p:extLst>
          </p:nvPr>
        </p:nvGraphicFramePr>
        <p:xfrm>
          <a:off x="24254793" y="5394335"/>
          <a:ext cx="8663607" cy="10186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6465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/>
                          <a:cs typeface="Arial"/>
                        </a:rPr>
                        <a:t>Results/Discussion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5872">
                <a:tc>
                  <a:txBody>
                    <a:bodyPr/>
                    <a:lstStyle/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38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Participants with </a:t>
                      </a:r>
                      <a:r>
                        <a:rPr lang="en-US" sz="2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lot of cognitive difficulty </a:t>
                      </a:r>
                      <a:r>
                        <a:rPr lang="en-US" sz="2600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had 2.2 times the odds of using telehealth in the preceding year compared to those with </a:t>
                      </a:r>
                      <a:r>
                        <a:rPr lang="en-US" sz="2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difficulty (</a:t>
                      </a:r>
                      <a:r>
                        <a:rPr lang="en-US" sz="2600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adjusted OR = 2.4, 95% CI: 2.2-2.6).</a:t>
                      </a:r>
                    </a:p>
                    <a:p>
                      <a:pPr marL="0" marR="0" lvl="0" indent="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6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There was a statistically significant interaction between age group and cognitive difficulty </a:t>
                      </a:r>
                      <a:r>
                        <a:rPr lang="en-US" sz="2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(p &lt; 0.001).</a:t>
                      </a: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600" b="1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Participants with a lot of cognitive difficulty were about twice as likely to use telehealth if under 50 (OR = 2.22) and about 1.6 times as likely if 50 or older (OR = 1.61).</a:t>
                      </a: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600" b="1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71500" marR="0" lvl="0" indent="-571500" algn="l" defTabSz="3135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Those with subjective cognitive difficulty may rely more on telehealth, potentially due to barriers to in-person visits (i.e., driving, navigation).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992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lang="en-US" sz="238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90163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EEAAE1D-04E4-0648-A186-3BE09501D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89119"/>
              </p:ext>
            </p:extLst>
          </p:nvPr>
        </p:nvGraphicFramePr>
        <p:xfrm>
          <a:off x="24381085" y="13677050"/>
          <a:ext cx="8562124" cy="4744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7321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Conclusions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251">
                <a:tc>
                  <a:txBody>
                    <a:bodyPr/>
                    <a:lstStyle/>
                    <a:p>
                      <a:pPr marL="457200" marR="0" lvl="0" indent="-457200" algn="l" defTabSz="313502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Individuals with greater cognitive difficulty had consistently higher odds of telehealth usage, a trend that held in both age categories.</a:t>
                      </a:r>
                    </a:p>
                    <a:p>
                      <a:pPr marL="457200" marR="0" lvl="0" indent="-457200" algn="l" defTabSz="313502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Telehealth may enhance healthcare accessibility for individuals with cognitive difficulties.</a:t>
                      </a:r>
                    </a:p>
                    <a:p>
                      <a:pPr marL="457200" marR="0" lvl="0" indent="-457200" algn="l" defTabSz="313502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600" b="1" dirty="0">
                          <a:latin typeface="Arial"/>
                          <a:cs typeface="Arial"/>
                        </a:rPr>
                        <a:t>Limitations: Cross-sectional design, self-reported data</a:t>
                      </a:r>
                    </a:p>
                    <a:p>
                      <a:pPr marL="342900" marR="0" lvl="0" indent="-342900" algn="l" defTabSz="313502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600" b="1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C50D72ED-1A43-CF4B-977A-9AFAEDE9C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07057"/>
              </p:ext>
            </p:extLst>
          </p:nvPr>
        </p:nvGraphicFramePr>
        <p:xfrm>
          <a:off x="24421143" y="18058325"/>
          <a:ext cx="8562124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2124">
                  <a:extLst>
                    <a:ext uri="{9D8B030D-6E8A-4147-A177-3AD203B41FA5}">
                      <a16:colId xmlns:a16="http://schemas.microsoft.com/office/drawing/2014/main" val="2666752716"/>
                    </a:ext>
                  </a:extLst>
                </a:gridCol>
              </a:tblGrid>
              <a:tr h="798061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001C4E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80693"/>
                  </a:ext>
                </a:extLst>
              </a:tr>
              <a:tr h="2985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rtl="0" fontAlgn="base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Mechanic OJ, Persaud Y, Kimball AB. Telehealth systems [Internet]. Treasure Island (FL):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StatPearls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Publishing; 2025 Jan– [updated 2022 Sep 12; cited 2025 Nov 2]. Available from: </a:t>
                      </a:r>
                      <a:r>
                        <a:rPr lang="en-US" sz="1400" b="0" i="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https://www.ncbi.nlm.nih.gov/books/NBK459384/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Lucas JW,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Villarroel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MA. Telemedicine use among adults: United States, 2021 [Internet]. Hyattsville (MD): National Center for Health Statistics; 2022 Oct [cited 2025 Nov 2]. Available from: </a:t>
                      </a:r>
                      <a:r>
                        <a:rPr lang="en-US" sz="1400" b="0" i="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https://www.cdc.gov/nchs/products/databriefs/db445.htm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pPr rtl="0" fontAlgn="base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Yi JS, Pittman CA, Price CL, Nieman CL, Oh ES. Telemedicine and dementia care: a systematic review of barriers and facilitators. 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 Am Med Dir Assoc.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2021;22(7):1396–1402.e18. doi:10.1016/j.jamda.2021.03.015. </a:t>
                      </a:r>
                    </a:p>
                    <a:p>
                      <a:pPr rtl="0" fontAlgn="base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National Center for Health Statistics. NHIS Questionnaires, Datasets, and Documentation [Internet]. Hyattsville (MD): Centers for Disease Control and Prevention; 2024 [cited 2025 Nov 2]. Available from: </a:t>
                      </a:r>
                      <a:r>
                        <a:rPr lang="en-US" sz="1400" b="0" i="0" u="sng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https://www.cdc.gov/nchs/nhis/documentation/index.html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rtl="0" fontAlgn="base"/>
                      <a:endParaRPr lang="en-US" sz="2400" b="1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1226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542B327-D66B-0F45-9FFC-41645927B4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696" y="7391049"/>
            <a:ext cx="7898580" cy="730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2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454096-e5d6-4342-86d2-ceac0113be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9B0BE5746B0E42A66A5C7848DE50DB" ma:contentTypeVersion="10" ma:contentTypeDescription="Create a new document." ma:contentTypeScope="" ma:versionID="5e650ef42a7f3fb1ce730de663cb7281">
  <xsd:schema xmlns:xsd="http://www.w3.org/2001/XMLSchema" xmlns:xs="http://www.w3.org/2001/XMLSchema" xmlns:p="http://schemas.microsoft.com/office/2006/metadata/properties" xmlns:ns3="aa454096-e5d6-4342-86d2-ceac0113be8d" xmlns:ns4="c1eaeaea-c2b6-4c28-97f9-57861e167270" targetNamespace="http://schemas.microsoft.com/office/2006/metadata/properties" ma:root="true" ma:fieldsID="72ff769f71149535ed359b9c988134b9" ns3:_="" ns4:_="">
    <xsd:import namespace="aa454096-e5d6-4342-86d2-ceac0113be8d"/>
    <xsd:import namespace="c1eaeaea-c2b6-4c28-97f9-57861e1672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454096-e5d6-4342-86d2-ceac0113be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aeaea-c2b6-4c28-97f9-57861e16727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C0FF81-7855-4F20-9812-C0BDACF5A0D8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c1eaeaea-c2b6-4c28-97f9-57861e167270"/>
    <ds:schemaRef ds:uri="http://schemas.microsoft.com/office/infopath/2007/PartnerControls"/>
    <ds:schemaRef ds:uri="http://schemas.openxmlformats.org/package/2006/metadata/core-properties"/>
    <ds:schemaRef ds:uri="aa454096-e5d6-4342-86d2-ceac0113be8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527F2C0-56B0-4251-B9DF-55B4666911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A7F77D-B646-4CB1-AADA-C47E40DFEB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454096-e5d6-4342-86d2-ceac0113be8d"/>
    <ds:schemaRef ds:uri="c1eaeaea-c2b6-4c28-97f9-57861e1672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29215</TotalTime>
  <Words>641</Words>
  <Application>Microsoft Macintosh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Company>Emory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Kelly Russ</dc:creator>
  <cp:lastModifiedBy>Eduardo Gonzalez</cp:lastModifiedBy>
  <cp:revision>843</cp:revision>
  <cp:lastPrinted>2025-11-19T02:00:59Z</cp:lastPrinted>
  <dcterms:created xsi:type="dcterms:W3CDTF">2012-10-16T14:27:18Z</dcterms:created>
  <dcterms:modified xsi:type="dcterms:W3CDTF">2025-11-19T02:02:19Z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0x010100079B0BE5746B0E42A66A5C7848DE50DB</vt:lpwstr>
  </property>
</Properties>
</file>